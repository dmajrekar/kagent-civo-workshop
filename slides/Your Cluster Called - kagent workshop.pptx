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NM"/>
  </p:notesMasterIdLst>
  <p:sldIdLst>
    <p:sldId id="256" r:id="rIdS1"/>
    <p:sldId id="257" r:id="rIdS2"/>
    <p:sldId id="258" r:id="rIdS3"/>
    <p:sldId id="259" r:id="rIdS4"/>
    <p:sldId id="260" r:id="rIdS5"/>
    <p:sldId id="261" r:id="rIdS6"/>
    <p:sldId id="262" r:id="rIdS7"/>
    <p:sldId id="263" r:id="rIdS8"/>
    <p:sldId id="264" r:id="rIdS9"/>
    <p:sldId id="265" r:id="rIdS10"/>
    <p:sldId id="266" r:id="rIdS11"/>
    <p:sldId id="267" r:id="rIdS12"/>
    <p:sldId id="268" r:id="rIdS13"/>
    <p:sldId id="269" r:id="rIdS14"/>
    <p:sldId id="270" r:id="rIdS15"/>
    <p:sldId id="271" r:id="rIdS16"/>
    <p:sldId id="272" r:id="rIdS17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NM" Type="http://schemas.openxmlformats.org/officeDocument/2006/relationships/notesMaster" Target="notesMasters/notesMaster1.xml"/>
<Relationship Id="rIdTheme" Type="http://schemas.openxmlformats.org/officeDocument/2006/relationships/theme" Target="theme/theme1.xml"/>
<Relationship Id="rIdS1" Type="http://schemas.openxmlformats.org/officeDocument/2006/relationships/slide" Target="slides/slide1.xml"/>
<Relationship Id="rIdS2" Type="http://schemas.openxmlformats.org/officeDocument/2006/relationships/slide" Target="slides/slide2.xml"/>
<Relationship Id="rIdS3" Type="http://schemas.openxmlformats.org/officeDocument/2006/relationships/slide" Target="slides/slide3.xml"/>
<Relationship Id="rIdS4" Type="http://schemas.openxmlformats.org/officeDocument/2006/relationships/slide" Target="slides/slide4.xml"/>
<Relationship Id="rIdS5" Type="http://schemas.openxmlformats.org/officeDocument/2006/relationships/slide" Target="slides/slide5.xml"/>
<Relationship Id="rIdS6" Type="http://schemas.openxmlformats.org/officeDocument/2006/relationships/slide" Target="slides/slide6.xml"/>
<Relationship Id="rIdS7" Type="http://schemas.openxmlformats.org/officeDocument/2006/relationships/slide" Target="slides/slide7.xml"/>
<Relationship Id="rIdS8" Type="http://schemas.openxmlformats.org/officeDocument/2006/relationships/slide" Target="slides/slide8.xml"/>
<Relationship Id="rIdS9" Type="http://schemas.openxmlformats.org/officeDocument/2006/relationships/slide" Target="slides/slide9.xml"/>
<Relationship Id="rIdS10" Type="http://schemas.openxmlformats.org/officeDocument/2006/relationships/slide" Target="slides/slide10.xml"/>
<Relationship Id="rIdS11" Type="http://schemas.openxmlformats.org/officeDocument/2006/relationships/slide" Target="slides/slide11.xml"/>
<Relationship Id="rIdS12" Type="http://schemas.openxmlformats.org/officeDocument/2006/relationships/slide" Target="slides/slide12.xml"/>
<Relationship Id="rIdS13" Type="http://schemas.openxmlformats.org/officeDocument/2006/relationships/slide" Target="slides/slide13.xml"/>
<Relationship Id="rIdS14" Type="http://schemas.openxmlformats.org/officeDocument/2006/relationships/slide" Target="slides/slide14.xml"/>
<Relationship Id="rIdS15" Type="http://schemas.openxmlformats.org/officeDocument/2006/relationships/slide" Target="slides/slide15.xml"/>
<Relationship Id="rIdS16" Type="http://schemas.openxmlformats.org/officeDocument/2006/relationships/slide" Target="slides/slide16.xml"/>
<Relationship Id="rIdS17" Type="http://schemas.openxmlformats.org/officeDocument/2006/relationships/slide" Target="slides/slide17.xml"/>
</Relationships>
</file>

<file path=ppt/notesMasters/_rels/notes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1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1200"/>
              <a:t>HOLDING SLIDE — up as people arrive, so early arrivals can start.</a:t>
            </a:r>
          </a:p>
          <a:p>
            <a:pPr marL="0" indent="0">
              <a:buNone/>
            </a:pPr>
            <a:r>
              <a:rPr lang="en-GB" sz="1200"/>
              <a:t>Advance when you're ready to begin.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1200"/>
              <a:t>30 seconds. Read it, pause on the certificate line, then the payoff.</a:t>
            </a:r>
          </a:p>
          <a:p>
            <a:pPr marL="0" indent="0">
              <a:buNone/>
            </a:pPr>
            <a:r>
              <a:rPr lang="en-GB" sz="1200"/>
              <a:t/>
            </a:r>
          </a:p>
          <a:p>
            <a:pPr marL="0" indent="0">
              <a:buNone/>
            </a:pPr>
            <a:r>
              <a:rPr lang="en-GB" sz="1200"/>
              <a:t>Do NOT explain how yet. They're going to build the thing that said it,</a:t>
            </a:r>
          </a:p>
          <a:p>
            <a:pPr marL="0" indent="0">
              <a:buNone/>
            </a:pPr>
            <a:r>
              <a:rPr lang="en-GB" sz="1200"/>
              <a:t>and the whole session works better if they get there themselves.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1200"/>
              <a:t>LEAVE THIS REACHABLE ALL SESSION — people will ask twice.</a:t>
            </a:r>
          </a:p>
          <a:p>
            <a:pPr marL="0" indent="0">
              <a:buNone/>
            </a:pPr>
            <a:r>
              <a:rPr lang="en-GB" sz="1200"/>
              <a:t>~3 minutes. Walk the room.</a:t>
            </a:r>
          </a:p>
          <a:p>
            <a:pPr marL="0" indent="0">
              <a:buNone/>
            </a:pPr>
            <a:r>
              <a:rPr lang="en-GB" sz="1200"/>
              <a:t/>
            </a:r>
          </a:p>
          <a:p>
            <a:pPr marL="0" indent="0">
              <a:buNone/>
            </a:pPr>
            <a:r>
              <a:rPr lang="en-GB" sz="1200"/>
              <a:t>Same name always returns the same credentials, so reloading is safe.</a:t>
            </a:r>
          </a:p>
          <a:p>
            <a:pPr marL="0" indent="0">
              <a:buNone/>
            </a:pPr>
            <a:r>
              <a:rPr lang="en-GB" sz="1200"/>
              <a:t>No Civo account? dashboard.civo.com, free signup.</a:t>
            </a:r>
          </a:p>
          <a:p>
            <a:pPr marL="0" indent="0">
              <a:buNone/>
            </a:pPr>
            <a:r>
              <a:rPr lang="en-GB" sz="1200"/>
              <a:t/>
            </a:r>
          </a:p>
          <a:p>
            <a:pPr marL="0" indent="0">
              <a:buNone/>
            </a:pPr>
            <a:r>
              <a:rPr lang="en-GB" sz="1200"/>
              <a:t>Then get everyone to start their cluster before you talk.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1200"/>
              <a:t>Keep this light — 90 seconds. They'll see the detail live.</a:t>
            </a:r>
          </a:p>
          <a:p>
            <a:pPr marL="0" indent="0">
              <a:buNone/>
            </a:pPr>
            <a:r>
              <a:rPr lang="en-GB" sz="1200"/>
              <a:t/>
            </a:r>
          </a:p>
          <a:p>
            <a:pPr marL="0" indent="0">
              <a:buNone/>
            </a:pPr>
            <a:r>
              <a:rPr lang="en-GB" sz="1200"/>
              <a:t>The one point worth making: everything on the left is theirs and they</a:t>
            </a:r>
          </a:p>
          <a:p>
            <a:pPr marL="0" indent="0">
              <a:buNone/>
            </a:pPr>
            <a:r>
              <a:rPr lang="en-GB" sz="1200"/>
              <a:t>keep it. The thing on the right is mine, and it's a platform that has</a:t>
            </a:r>
          </a:p>
          <a:p>
            <a:pPr marL="0" indent="0">
              <a:buNone/>
            </a:pPr>
            <a:r>
              <a:rPr lang="en-GB" sz="1200"/>
              <a:t>been misbehaving for a week.</a:t>
            </a:r>
          </a:p>
          <a:p>
            <a:pPr marL="0" indent="0">
              <a:buNone/>
            </a:pPr>
            <a:r>
              <a:rPr lang="en-GB" sz="1200"/>
              <a:t/>
            </a:r>
          </a:p>
          <a:p>
            <a:pPr marL="0" indent="0">
              <a:buNone/>
            </a:pPr>
            <a:r>
              <a:rPr lang="en-GB" sz="1200"/>
              <a:t>LIVE: start step-01 here if you haven't. It returns immediately.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1200"/>
              <a:t>~3 min of air cover while clusters provision.</a:t>
            </a:r>
          </a:p>
          <a:p>
            <a:pPr marL="0" indent="0">
              <a:buNone/>
            </a:pPr>
            <a:r>
              <a:rPr lang="en-GB" sz="1200"/>
              <a:t/>
            </a:r>
          </a:p>
          <a:p>
            <a:pPr marL="0" indent="0">
              <a:buNone/>
            </a:pPr>
            <a:r>
              <a:rPr lang="en-GB" sz="1200"/>
              <a:t>The point: this isn't a chatbot bolted onto Kubernetes. It's a workload</a:t>
            </a:r>
          </a:p>
          <a:p>
            <a:pPr marL="0" indent="0">
              <a:buNone/>
            </a:pPr>
            <a:r>
              <a:rPr lang="en-GB" sz="1200"/>
              <a:t>with an identity, RBAC and a manifest — the things you already know how</a:t>
            </a:r>
          </a:p>
          <a:p>
            <a:pPr marL="0" indent="0">
              <a:buNone/>
            </a:pPr>
            <a:r>
              <a:rPr lang="en-GB" sz="1200"/>
              <a:t>to reason about.</a:t>
            </a:r>
          </a:p>
          <a:p>
            <a:pPr marL="0" indent="0">
              <a:buNone/>
            </a:pPr>
            <a:r>
              <a:rPr lang="en-GB" sz="1200"/>
              <a:t/>
            </a:r>
          </a:p>
          <a:p>
            <a:pPr marL="0" indent="0">
              <a:buNone/>
            </a:pPr>
            <a:r>
              <a:rPr lang="en-GB" sz="1200"/>
              <a:t>Good question for the room: who already runs something that reads logs</a:t>
            </a:r>
          </a:p>
          <a:p>
            <a:pPr marL="0" indent="0">
              <a:buNone/>
            </a:pPr>
            <a:r>
              <a:rPr lang="en-GB" sz="1200"/>
              <a:t>at 3am? Right — same job, different implementation.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1200"/>
              <a:t>~2 min. This is the actual argument for the approach; make it properly.</a:t>
            </a:r>
          </a:p>
          <a:p>
            <a:pPr marL="0" indent="0">
              <a:buNone/>
            </a:pPr>
            <a:r>
              <a:rPr lang="en-GB" sz="1200"/>
              <a:t/>
            </a:r>
          </a:p>
          <a:p>
            <a:pPr marL="0" indent="0">
              <a:buNone/>
            </a:pPr>
            <a:r>
              <a:rPr lang="en-GB" sz="1200"/>
              <a:t>LIVE: by now step-02 and step-03 should be running. Show your own</a:t>
            </a:r>
          </a:p>
          <a:p>
            <a:pPr marL="0" indent="0">
              <a:buNone/>
            </a:pPr>
            <a:r>
              <a:rPr lang="en-GB" sz="1200"/>
              <a:t>console — the ModelConfig is one baseUrl field pointing at relax.ai.</a:t>
            </a:r>
          </a:p>
          <a:p>
            <a:pPr marL="0" indent="0">
              <a:buNone/>
            </a:pPr>
            <a:r>
              <a:rPr lang="en-GB" sz="1200"/>
              <a:t>Let someone read out what their agent said about their own cluster.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1200"/>
              <a:t>~2 min, immediately before they connect to the hub.</a:t>
            </a:r>
          </a:p>
          <a:p>
            <a:pPr marL="0" indent="0">
              <a:buNone/>
            </a:pPr>
            <a:r>
              <a:rPr lang="en-GB" sz="1200"/>
              <a:t/>
            </a:r>
          </a:p>
          <a:p>
            <a:pPr marL="0" indent="0">
              <a:buNone/>
            </a:pPr>
            <a:r>
              <a:rPr lang="en-GB" sz="1200"/>
              <a:t>This is the conceptual unlock. If they get this, step-04 lands.</a:t>
            </a:r>
          </a:p>
          <a:p>
            <a:pPr marL="0" indent="0">
              <a:buNone/>
            </a:pPr>
            <a:r>
              <a:rPr lang="en-GB" sz="1200"/>
              <a:t>If you only make one point in the whole session, make this one.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1200"/>
              <a:t>THIS IS THE SESSION. Give it 12-15 minutes and get out of the way.</a:t>
            </a:r>
          </a:p>
          <a:p>
            <a:pPr marL="0" indent="0">
              <a:buNone/>
            </a:pPr>
            <a:r>
              <a:rPr lang="en-GB" sz="1200"/>
              <a:t/>
            </a:r>
          </a:p>
          <a:p>
            <a:pPr marL="0" indent="0">
              <a:buNone/>
            </a:pPr>
            <a:r>
              <a:rPr lang="en-GB" sz="1200"/>
              <a:t>Do NOT hand them questions. Let them interrogate it. Walk the room,</a:t>
            </a:r>
          </a:p>
          <a:p>
            <a:pPr marL="0" indent="0">
              <a:buNone/>
            </a:pPr>
            <a:r>
              <a:rPr lang="en-GB" sz="1200"/>
              <a:t>read over shoulders, pull good findings up on the projector.</a:t>
            </a:r>
          </a:p>
          <a:p>
            <a:pPr marL="0" indent="0">
              <a:buNone/>
            </a:pPr>
            <a:r>
              <a:rPr lang="en-GB" sz="1200"/>
              <a:t/>
            </a:r>
          </a:p>
          <a:p>
            <a:pPr marL="0" indent="0">
              <a:buNone/>
            </a:pPr>
            <a:r>
              <a:rPr lang="en-GB" sz="1200"/>
              <a:t>There are six things genuinely in there — your answer key:</a:t>
            </a:r>
          </a:p>
          <a:p>
            <a:pPr marL="0" indent="0">
              <a:buNone/>
            </a:pPr>
            <a:r>
              <a:rPr lang="en-GB" sz="1200"/>
              <a:t>  · checkout 502s stepping up after a v2.3.1 deploy, 4 days ago</a:t>
            </a:r>
          </a:p>
          <a:p>
            <a:pPr marL="0" indent="0">
              <a:buNone/>
            </a:pPr>
            <a:r>
              <a:rPr lang="en-GB" sz="1200"/>
              <a:t>  · orders-db-proxy pool exhaustion, nightly 02:00-02:40</a:t>
            </a:r>
          </a:p>
          <a:p>
            <a:pPr marL="0" indent="0">
              <a:buNone/>
            </a:pPr>
            <a:r>
              <a:rPr lang="en-GB" sz="1200"/>
              <a:t>  · image-resizer OOMKill loop, worsening over 2 days</a:t>
            </a:r>
          </a:p>
          <a:p>
            <a:pPr marL="0" indent="0">
              <a:buNone/>
            </a:pPr>
            <a:r>
              <a:rPr lang="en-GB" sz="1200"/>
              <a:t>  · notifications = 45% of all log volume, debug left on</a:t>
            </a:r>
          </a:p>
          <a:p>
            <a:pPr marL="0" indent="0">
              <a:buNone/>
            </a:pPr>
            <a:r>
              <a:rPr lang="en-GB" sz="1200"/>
              <a:t>  · auth TLS certificate expiring in 9 days, nothing failing yet</a:t>
            </a:r>
          </a:p>
          <a:p>
            <a:pPr marL="0" indent="0">
              <a:buNone/>
            </a:pPr>
            <a:r>
              <a:rPr lang="en-GB" sz="1200"/>
              <a:t>  · search p99 creeping up ~8%/day with zero errors</a:t>
            </a:r>
          </a:p>
          <a:p>
            <a:pPr marL="0" indent="0">
              <a:buNone/>
            </a:pPr>
            <a:r>
              <a:rPr lang="en-GB" sz="1200"/>
              <a:t/>
            </a:r>
          </a:p>
          <a:p>
            <a:pPr marL="0" indent="0">
              <a:buNone/>
            </a:pPr>
            <a:r>
              <a:rPr lang="en-GB" sz="1200"/>
              <a:t>If the room stalls, nudge with a THEME not a prompt: 'has anything</a:t>
            </a:r>
          </a:p>
          <a:p>
            <a:pPr marL="0" indent="0">
              <a:buNone/>
            </a:pPr>
            <a:r>
              <a:rPr lang="en-GB" sz="1200"/>
              <a:t>changed this week?' / 'anything on a schedule?' / 'anything about to</a:t>
            </a:r>
          </a:p>
          <a:p>
            <a:pPr marL="0" indent="0">
              <a:buNone/>
            </a:pPr>
            <a:r>
              <a:rPr lang="en-GB" sz="1200"/>
              <a:t>break that hasn't yet?'</a:t>
            </a:r>
          </a:p>
          <a:p>
            <a:pPr marL="0" indent="0">
              <a:buNone/>
            </a:pPr>
            <a:r>
              <a:rPr lang="en-GB" sz="1200"/>
              <a:t/>
            </a:r>
          </a:p>
          <a:p>
            <a:pPr marL="0" indent="0">
              <a:buNone/>
            </a:pPr>
            <a:r>
              <a:rPr lang="en-GB" sz="1200"/>
              <a:t>Backstop, only if it's really flat — the verbatim prompt that finds</a:t>
            </a:r>
          </a:p>
          <a:p>
            <a:pPr marL="0" indent="0">
              <a:buNone/>
            </a:pPr>
            <a:r>
              <a:rPr lang="en-GB" sz="1200"/>
              <a:t>the certificate: 'Is there anything that will fail in the next two</a:t>
            </a:r>
          </a:p>
          <a:p>
            <a:pPr marL="0" indent="0">
              <a:buNone/>
            </a:pPr>
            <a:r>
              <a:rPr lang="en-GB" sz="1200"/>
              <a:t>weeks but is not failing today?'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1200"/>
              <a:t>DO THIS LIVE, and take your time fumbling. It is the strongest</a:t>
            </a:r>
          </a:p>
          <a:p>
            <a:pPr marL="0" indent="0">
              <a:buNone/>
            </a:pPr>
            <a:r>
              <a:rPr lang="en-GB" sz="1200"/>
              <a:t>argument in the session and it makes itself.</a:t>
            </a:r>
          </a:p>
          <a:p>
            <a:pPr marL="0" indent="0">
              <a:buNone/>
            </a:pPr>
            <a:r>
              <a:rPr lang="en-GB" sz="1200"/>
              <a:t/>
            </a:r>
          </a:p>
          <a:p>
            <a:pPr marL="0" indent="0">
              <a:buNone/>
            </a:pPr>
            <a:r>
              <a:rPr lang="en-GB" sz="1200"/>
              <a:t>Open Explore, pick the Loki datasource, and try to find the auth</a:t>
            </a:r>
          </a:p>
          <a:p>
            <a:pPr marL="0" indent="0">
              <a:buNone/>
            </a:pPr>
            <a:r>
              <a:rPr lang="en-GB" sz="1200"/>
              <a:t>certificate expiry. To get there you need to know: that Loki uses</a:t>
            </a:r>
          </a:p>
          <a:p>
            <a:pPr marL="0" indent="0">
              <a:buNone/>
            </a:pPr>
            <a:r>
              <a:rPr lang="en-GB" sz="1200"/>
              <a:t>LogQL, that you want a label selector on service, that the line is</a:t>
            </a:r>
          </a:p>
          <a:p>
            <a:pPr marL="0" indent="0">
              <a:buNone/>
            </a:pPr>
            <a:r>
              <a:rPr lang="en-GB" sz="1200"/>
              <a:t>at warn not error, and — the real problem — that certificates are</a:t>
            </a:r>
          </a:p>
          <a:p>
            <a:pPr marL="0" indent="0">
              <a:buNone/>
            </a:pPr>
            <a:r>
              <a:rPr lang="en-GB" sz="1200"/>
              <a:t>a thing worth looking for at all.</a:t>
            </a:r>
          </a:p>
          <a:p>
            <a:pPr marL="0" indent="0">
              <a:buNone/>
            </a:pPr>
            <a:r>
              <a:rPr lang="en-GB" sz="1200"/>
              <a:t/>
            </a:r>
          </a:p>
          <a:p>
            <a:pPr marL="0" indent="0">
              <a:buNone/>
            </a:pPr>
            <a:r>
              <a:rPr lang="en-GB" sz="1200"/>
              <a:t>Everything the agent found is sitting right there. None of it is</a:t>
            </a:r>
          </a:p>
          <a:p>
            <a:pPr marL="0" indent="0">
              <a:buNone/>
            </a:pPr>
            <a:r>
              <a:rPr lang="en-GB" sz="1200"/>
              <a:t>hidden. The difference is knowing what to ask.</a:t>
            </a:r>
          </a:p>
          <a:p>
            <a:pPr marL="0" indent="0">
              <a:buNone/>
            </a:pPr>
            <a:r>
              <a:rPr lang="en-GB" sz="1200"/>
              <a:t/>
            </a:r>
          </a:p>
          <a:p>
            <a:pPr marL="0" indent="0">
              <a:buNone/>
            </a:pPr>
            <a:r>
              <a:rPr lang="en-GB" sz="1200"/>
              <a:t>Let a couple of attendees try on the projector if they will.</a:t>
            </a:r>
          </a:p>
          <a:p>
            <a:pPr marL="0" indent="0">
              <a:buNone/>
            </a:pPr>
            <a:r>
              <a:rPr lang="en-GB" sz="1200"/>
              <a:t>Nobody finds the certificate. That is the point -- it is the one</a:t>
            </a:r>
          </a:p>
          <a:p>
            <a:pPr marL="0" indent="0">
              <a:buNone/>
            </a:pPr>
            <a:r>
              <a:rPr lang="en-GB" sz="1200"/>
              <a:t>incident where nothing is failing yet, so nothing draws your eye.</a:t>
            </a:r>
          </a:p>
          <a:p>
            <a:pPr marL="0" indent="0">
              <a:buNone/>
            </a:pPr>
            <a:r>
              <a:rPr lang="en-GB" sz="1200"/>
              <a:t/>
            </a:r>
          </a:p>
          <a:p>
            <a:pPr marL="0" indent="0">
              <a:buNone/>
            </a:pPr>
            <a:r>
              <a:rPr lang="en-GB" sz="1200"/>
              <a:t>Then move to the next slide and collect what they DID find with</a:t>
            </a:r>
          </a:p>
          <a:p>
            <a:pPr marL="0" indent="0">
              <a:buNone/>
            </a:pPr>
            <a:r>
              <a:rPr lang="en-GB" sz="1200"/>
              <a:t>the agent.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1200"/>
              <a:t>COLLECT FROM THE ROOM. 5 minutes, and resist filling the silence.</a:t>
            </a:r>
          </a:p>
          <a:p>
            <a:pPr marL="0" indent="0">
              <a:buNone/>
            </a:pPr>
            <a:r>
              <a:rPr lang="en-GB" sz="1200"/>
              <a:t/>
            </a:r>
          </a:p>
          <a:p>
            <a:pPr marL="0" indent="0">
              <a:buNone/>
            </a:pPr>
            <a:r>
              <a:rPr lang="en-GB" sz="1200"/>
              <a:t>Ask who found something nobody else did. Ask if anyone's agent got</a:t>
            </a:r>
          </a:p>
          <a:p>
            <a:pPr marL="0" indent="0">
              <a:buNone/>
            </a:pPr>
            <a:r>
              <a:rPr lang="en-GB" sz="1200"/>
              <a:t>something wrong. Both are useful.</a:t>
            </a:r>
          </a:p>
          <a:p>
            <a:pPr marL="0" indent="0">
              <a:buNone/>
            </a:pPr>
            <a:r>
              <a:rPr lang="en-GB" sz="1200"/>
              <a:t/>
            </a:r>
          </a:p>
          <a:p>
            <a:pPr marL="0" indent="0">
              <a:buNone/>
            </a:pPr>
            <a:r>
              <a:rPr lang="en-GB" sz="1200"/>
              <a:t>You're fishing for the three learnings on the next slides — if the room</a:t>
            </a:r>
          </a:p>
          <a:p>
            <a:pPr marL="0" indent="0">
              <a:buNone/>
            </a:pPr>
            <a:r>
              <a:rPr lang="en-GB" sz="1200"/>
              <a:t>says them first, that's a better session than you saying them.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1200"/>
              <a:t>The most transferable thing in the session.</a:t>
            </a:r>
          </a:p>
          <a:p>
            <a:pPr marL="0" indent="0">
              <a:buNone/>
            </a:pPr>
            <a:r>
              <a:rPr lang="en-GB" sz="1200"/>
              <a:t/>
            </a:r>
          </a:p>
          <a:p>
            <a:pPr marL="0" indent="0">
              <a:buNone/>
            </a:pPr>
            <a:r>
              <a:rPr lang="en-GB" sz="1200"/>
              <a:t>The second phrasing makes it exclude what's already failing, so it has</a:t>
            </a:r>
          </a:p>
          <a:p>
            <a:pPr marL="0" indent="0">
              <a:buNone/>
            </a:pPr>
            <a:r>
              <a:rPr lang="en-GB" sz="1200"/>
              <a:t>to reason about the future instead of ranking the present.</a:t>
            </a:r>
          </a:p>
          <a:p>
            <a:pPr marL="0" indent="0">
              <a:buNone/>
            </a:pPr>
            <a:r>
              <a:rPr lang="en-GB" sz="1200"/>
              <a:t/>
            </a:r>
          </a:p>
          <a:p>
            <a:pPr marL="0" indent="0">
              <a:buNone/>
            </a:pPr>
            <a:r>
              <a:rPr lang="en-GB" sz="1200"/>
              <a:t>If someone in the room discovered this themselves, credit them and let</a:t>
            </a:r>
          </a:p>
          <a:p>
            <a:pPr marL="0" indent="0">
              <a:buNone/>
            </a:pPr>
            <a:r>
              <a:rPr lang="en-GB" sz="1200"/>
              <a:t>them explain it.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1200"/>
              <a:t>Be straight about this; it lands far better than pretending.</a:t>
            </a:r>
          </a:p>
          <a:p>
            <a:pPr marL="0" indent="0">
              <a:buNone/>
            </a:pPr>
            <a:r>
              <a:rPr lang="en-GB" sz="1200"/>
              <a:t/>
            </a:r>
          </a:p>
          <a:p>
            <a:pPr marL="0" indent="0">
              <a:buNone/>
            </a:pPr>
            <a:r>
              <a:rPr lang="en-GB" sz="1200"/>
              <a:t>The useful framing: this doesn't replace the on-call engineer, it gets</a:t>
            </a:r>
          </a:p>
          <a:p>
            <a:pPr marL="0" indent="0">
              <a:buNone/>
            </a:pPr>
            <a:r>
              <a:rPr lang="en-GB" sz="1200"/>
              <a:t>them to the right three questions in thirty seconds instead of an hour.</a:t>
            </a:r>
          </a:p>
          <a:p>
            <a:pPr marL="0" indent="0">
              <a:buNone/>
            </a:pPr>
            <a:r>
              <a:rPr lang="en-GB" sz="1200"/>
              <a:t/>
            </a:r>
          </a:p>
          <a:p>
            <a:pPr marL="0" indent="0">
              <a:buNone/>
            </a:pPr>
            <a:r>
              <a:rPr lang="en-GB" sz="1200"/>
              <a:t>LIVE: show the wall here as the daily reports land.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1200"/>
              <a:t>The architectural takeaway, and the one that outlives the demo.</a:t>
            </a:r>
          </a:p>
          <a:p>
            <a:pPr marL="0" indent="0">
              <a:buNone/>
            </a:pPr>
            <a:r>
              <a:rPr lang="en-GB" sz="1200"/>
              <a:t/>
            </a:r>
          </a:p>
          <a:p>
            <a:pPr marL="0" indent="0">
              <a:buNone/>
            </a:pPr>
            <a:r>
              <a:rPr lang="en-GB" sz="1200"/>
              <a:t>Worth saying: swap relax.ai for a self-hosted model by editing one</a:t>
            </a:r>
          </a:p>
          <a:p>
            <a:pPr marL="0" indent="0">
              <a:buNone/>
            </a:pPr>
            <a:r>
              <a:rPr lang="en-GB" sz="1200"/>
              <a:t>field. Swap Loki for whatever you already run, if it speaks MCP.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1200"/>
              <a:t>Point out these are SHAPES, not magic strings — their dataset is gone</a:t>
            </a:r>
          </a:p>
          <a:p>
            <a:pPr marL="0" indent="0">
              <a:buNone/>
            </a:pPr>
            <a:r>
              <a:rPr lang="en-GB" sz="1200"/>
              <a:t>when the hub goes, but the question forms transfer.</a:t>
            </a:r>
          </a:p>
          <a:p>
            <a:pPr marL="0" indent="0">
              <a:buNone/>
            </a:pPr>
            <a:r>
              <a:rPr lang="en-GB" sz="1200"/>
              <a:t/>
            </a:r>
          </a:p>
          <a:p>
            <a:pPr marL="0" indent="0">
              <a:buNone/>
            </a:pPr>
            <a:r>
              <a:rPr lang="en-GB" sz="1200"/>
              <a:t>Two habits worth calling out:</a:t>
            </a:r>
          </a:p>
          <a:p>
            <a:pPr marL="0" indent="0">
              <a:buNone/>
            </a:pPr>
            <a:r>
              <a:rPr lang="en-GB" sz="1200"/>
              <a:t>  · Ask for reasoning — 'and why that rather than the others' turns a</a:t>
            </a:r>
          </a:p>
          <a:p>
            <a:pPr marL="0" indent="0">
              <a:buNone/>
            </a:pPr>
            <a:r>
              <a:rPr lang="en-GB" sz="1200"/>
              <a:t>    list into something you can argue with.</a:t>
            </a:r>
          </a:p>
          <a:p>
            <a:pPr marL="0" indent="0">
              <a:buNone/>
            </a:pPr>
            <a:r>
              <a:rPr lang="en-GB" sz="1200"/>
              <a:t>  · Put your context in the system prompt, not the question. It doesn't</a:t>
            </a:r>
          </a:p>
          <a:p>
            <a:pPr marL="0" indent="0">
              <a:buNone/>
            </a:pPr>
            <a:r>
              <a:rPr lang="en-GB" sz="1200"/>
              <a:t>    know which of your services matter or what normal looks like.</a:t>
            </a:r>
          </a:p>
          <a:p>
            <a:pPr marL="0" indent="0">
              <a:buNone/>
            </a:pPr>
            <a:r>
              <a:rPr lang="en-GB" sz="1200"/>
              <a:t/>
            </a:r>
          </a:p>
          <a:p>
            <a:pPr marL="0" indent="0">
              <a:buNone/>
            </a:pPr>
            <a:r>
              <a:rPr lang="en-GB" sz="1200"/>
              <a:t>All of these are in docs/AFTER.md so nobody has to photograph the slide.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1200"/>
              <a:t>In rough order of effort. The first one is where nearly all the value</a:t>
            </a:r>
          </a:p>
          <a:p>
            <a:pPr marL="0" indent="0">
              <a:buNone/>
            </a:pPr>
            <a:r>
              <a:rPr lang="en-GB" sz="1200"/>
              <a:t>is and takes ten minutes — push it hardest.</a:t>
            </a:r>
          </a:p>
          <a:p>
            <a:pPr marL="0" indent="0">
              <a:buNone/>
            </a:pPr>
            <a:r>
              <a:rPr lang="en-GB" sz="1200"/>
              <a:t/>
            </a:r>
          </a:p>
          <a:p>
            <a:pPr marL="0" indent="0">
              <a:buNone/>
            </a:pPr>
            <a:r>
              <a:rPr lang="en-GB" sz="1200"/>
              <a:t>The second is the one people get wrong: they ship a daily report,</a:t>
            </a:r>
          </a:p>
          <a:p>
            <a:pPr marL="0" indent="0">
              <a:buNone/>
            </a:pPr>
            <a:r>
              <a:rPr lang="en-GB" sz="1200"/>
              <a:t>nobody reads it by week two, and they conclude agents don't work.</a:t>
            </a:r>
          </a:p>
          <a:p>
            <a:pPr marL="0" indent="0">
              <a:buNone/>
            </a:pPr>
            <a:r>
              <a:rPr lang="en-GB" sz="1200"/>
              <a:t/>
            </a:r>
          </a:p>
          <a:p>
            <a:pPr marL="0" indent="0">
              <a:buNone/>
            </a:pPr>
            <a:r>
              <a:rPr lang="en-GB" sz="1200"/>
              <a:t>Third is where it stops being a log summariser and starts correlating</a:t>
            </a:r>
          </a:p>
          <a:p>
            <a:pPr marL="0" indent="0">
              <a:buNone/>
            </a:pPr>
            <a:r>
              <a:rPr lang="en-GB" sz="1200"/>
              <a:t>— a deploy in GitHub against an error spike in Loki.</a:t>
            </a:r>
          </a:p>
          <a:p>
            <a:pPr marL="0" indent="0">
              <a:buNone/>
            </a:pPr>
            <a:r>
              <a:rPr lang="en-GB" sz="1200"/>
              <a:t/>
            </a:r>
          </a:p>
          <a:p>
            <a:pPr marL="0" indent="0">
              <a:buNone/>
            </a:pPr>
            <a:r>
              <a:rPr lang="en-GB" sz="1200"/>
              <a:t>examples/my-agent.yaml is a commented scaffold for all of this.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1200"/>
              <a:t>SAY THE BILLING LINE OUT LOUD. An unexpected charge next month is the</a:t>
            </a:r>
          </a:p>
          <a:p>
            <a:pPr marL="0" indent="0">
              <a:buNone/>
            </a:pPr>
            <a:r>
              <a:rPr lang="en-GB" sz="1200"/>
              <a:t>one thing that turns a good workshop into a complaint.</a:t>
            </a:r>
          </a:p>
          <a:p>
            <a:pPr marL="0" indent="0">
              <a:buNone/>
            </a:pPr>
            <a:r>
              <a:rPr lang="en-GB" sz="1200"/>
              <a:t/>
            </a:r>
          </a:p>
          <a:p>
            <a:pPr marL="0" indent="0">
              <a:buNone/>
            </a:pPr>
            <a:r>
              <a:rPr lang="en-GB" sz="1200"/>
              <a:t>make clean deletes the cluster and its volumes.</a:t>
            </a:r>
          </a:p>
          <a:p>
            <a:pPr marL="0" indent="0">
              <a:buNone/>
            </a:pPr>
            <a:r>
              <a:rPr lang="en-GB" sz="1200"/>
              <a:t>civo kubernetes scale &lt;name&gt; --nodes=1 halves it instead.</a:t>
            </a:r>
          </a:p>
          <a:p>
            <a:pPr marL="0" indent="0">
              <a:buNone/>
            </a:pPr>
            <a:r>
              <a:rPr lang="en-GB" sz="1200"/>
              <a:t/>
            </a:r>
          </a:p>
          <a:p>
            <a:pPr marL="0" indent="0">
              <a:buNone/>
            </a:pPr>
            <a:r>
              <a:rPr lang="en-GB" sz="1200"/>
              <a:t>On 22 October: only log-detective is affected, and the fix is one</a:t>
            </a:r>
          </a:p>
          <a:p>
            <a:pPr marL="0" indent="0">
              <a:buNone/>
            </a:pPr>
            <a:r>
              <a:rPr lang="en-GB" sz="1200"/>
              <a:t>URL on the RemoteMCPServer pointed at their own Grafana. That is a</a:t>
            </a:r>
          </a:p>
          <a:p>
            <a:pPr marL="0" indent="0">
              <a:buNone/>
            </a:pPr>
            <a:r>
              <a:rPr lang="en-GB" sz="1200"/>
              <a:t>better ending than running a copy of my fake platform — it sends</a:t>
            </a:r>
          </a:p>
          <a:p>
            <a:pPr marL="0" indent="0">
              <a:buNone/>
            </a:pPr>
            <a:r>
              <a:rPr lang="en-GB" sz="1200"/>
              <a:t>them at their real systems. docs/AFTER.md has the command.</a:t>
            </a:r>
          </a:p>
          <a:p>
            <a:pPr marL="0" indent="0">
              <a:buNone/>
            </a:pPr>
            <a:r>
              <a:rPr lang="en-GB" sz="1200"/>
              <a:t/>
            </a:r>
          </a:p>
          <a:p>
            <a:pPr marL="0" indent="0">
              <a:buNone/>
            </a:pPr>
            <a:r>
              <a:rPr lang="en-GB" sz="1200"/>
              <a:t>Put 22 October in the follow-up email as well as on this slide.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1200"/>
              <a:t>Leave up for Q&amp;A.</a:t>
            </a:r>
          </a:p>
          <a:p>
            <a:pPr marL="0" indent="0">
              <a:buNone/>
            </a:pPr>
            <a:r>
              <a:rPr lang="en-GB" sz="1200"/>
              <a:t/>
            </a:r>
          </a:p>
          <a:p>
            <a:pPr marL="0" indent="0">
              <a:buNone/>
            </a:pPr>
            <a:r>
              <a:rPr lang="en-GB" sz="1200"/>
              <a:t>Likely questions: what does this cost to run for real; can it act as</a:t>
            </a:r>
          </a:p>
          <a:p>
            <a:pPr marL="0" indent="0">
              <a:buNone/>
            </a:pPr>
            <a:r>
              <a:rPr lang="en-GB" sz="1200"/>
              <a:t>well as read (yes, with approval); does it work with self-hosted models</a:t>
            </a:r>
          </a:p>
          <a:p>
            <a:pPr marL="0" indent="0">
              <a:buNone/>
            </a:pPr>
            <a:r>
              <a:rPr lang="en-GB" sz="1200"/>
              <a:t>(yes — one field); what if we don't run Loki (any MCP server works).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38200" y="720000"/>
            <a:ext cx="10515600" cy="4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1100" b="1">
                <a:solidFill>
                  <a:srgbClr val="0D6068"/>
                </a:solidFill>
              </a:rPr>
              <a:t>KAGENT ON CIVO · 60 MINUTES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38200" y="1240000"/>
            <a:ext cx="10515600" cy="19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4400" b="1">
                <a:solidFill>
                  <a:srgbClr val="14191A"/>
                </a:solidFill>
              </a:rPr>
              <a:t>Your Cluster Called</a:t>
            </a:r>
          </a:p>
          <a:p>
            <a:pPr marL="0" indent="0">
              <a:buNone/>
            </a:pPr>
            <a:r>
              <a:rPr lang="en-GB" sz="4400" b="1">
                <a:solidFill>
                  <a:srgbClr val="14191A"/>
                </a:solidFill>
              </a:rPr>
              <a:t>and it's found a problem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838200" y="2740000"/>
            <a:ext cx="10515600" cy="341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>Get set up while you wait:   wall-74-220-17-251.sslip.io/join</a:t>
            </a:r>
          </a:p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>Passphrase:  kagent-sept-22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838200" y="720000"/>
            <a:ext cx="10515600" cy="19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3200" b="1">
                <a:solidFill>
                  <a:srgbClr val="14191A"/>
                </a:solidFill>
              </a:rPr>
              <a:t>“Checkout started returning 502s four days ago.</a:t>
            </a:r>
          </a:p>
          <a:p>
            <a:pPr marL="0" indent="0">
              <a:buNone/>
            </a:pPr>
            <a:r>
              <a:rPr lang="en-GB" sz="3200" b="1">
                <a:solidFill>
                  <a:srgbClr val="14191A"/>
                </a:solidFill>
              </a:rPr>
              <a:t>It lines up with a deploy.</a:t>
            </a:r>
          </a:p>
          <a:p>
            <a:pPr marL="0" indent="0">
              <a:buNone/>
            </a:pPr>
            <a:r>
              <a:rPr lang="en-GB" sz="3200" b="1">
                <a:solidFill>
                  <a:srgbClr val="14191A"/>
                </a:solidFill>
              </a:rPr>
              <a:t/>
            </a:r>
          </a:p>
          <a:p>
            <a:pPr marL="0" indent="0">
              <a:buNone/>
            </a:pPr>
            <a:r>
              <a:rPr lang="en-GB" sz="3200" b="1">
                <a:solidFill>
                  <a:srgbClr val="14191A"/>
                </a:solidFill>
              </a:rPr>
              <a:t>Something's exhausting the orders database</a:t>
            </a:r>
          </a:p>
          <a:p>
            <a:pPr marL="0" indent="0">
              <a:buNone/>
            </a:pPr>
            <a:r>
              <a:rPr lang="en-GB" sz="3200" b="1">
                <a:solidFill>
                  <a:srgbClr val="14191A"/>
                </a:solidFill>
              </a:rPr>
              <a:t>connection pool every night at 2am.</a:t>
            </a:r>
          </a:p>
          <a:p>
            <a:pPr marL="0" indent="0">
              <a:buNone/>
            </a:pPr>
            <a:r>
              <a:rPr lang="en-GB" sz="3200" b="1">
                <a:solidFill>
                  <a:srgbClr val="14191A"/>
                </a:solidFill>
              </a:rPr>
              <a:t/>
            </a:r>
          </a:p>
          <a:p>
            <a:pPr marL="0" indent="0">
              <a:buNone/>
            </a:pPr>
            <a:r>
              <a:rPr lang="en-GB" sz="3200" b="1">
                <a:solidFill>
                  <a:srgbClr val="14191A"/>
                </a:solidFill>
              </a:rPr>
              <a:t>Also — your auth certificate expires in nine days.”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838200" y="1870000"/>
            <a:ext cx="10515600" cy="428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1600">
                <a:solidFill>
                  <a:srgbClr val="3A4446"/>
                </a:solidFill>
              </a:rPr>
              <a:t>Nobody told it to look for any of that.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38200" y="720000"/>
            <a:ext cx="10515600" cy="4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1100" b="1">
                <a:solidFill>
                  <a:srgbClr val="0D6068"/>
                </a:solidFill>
              </a:rPr>
              <a:t>DO THIS NOW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38200" y="1240000"/>
            <a:ext cx="10515600" cy="19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3200" b="1">
                <a:solidFill>
                  <a:srgbClr val="14191A"/>
                </a:solidFill>
              </a:rPr>
              <a:t>Get your credentials</a:t>
            </a:r>
          </a:p>
        </p:txBody>
      </p:sp>
      <p:sp>
        <p:nvSpPr>
          <p:cNvPr id="4" name="cmd"/>
          <p:cNvSpPr txBox="1"/>
          <p:nvPr/>
        </p:nvSpPr>
        <p:spPr>
          <a:xfrm>
            <a:off x="838200" y="2390000"/>
            <a:ext cx="10515600" cy="8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2800" b="1">
                <a:solidFill>
                  <a:srgbClr val="0D6068"/>
                </a:solidFill>
                <a:latin typeface="IBM Plex Mono"/>
              </a:rPr>
              <a:t>wall-74-220-17-251.sslip.io/join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838200" y="3390000"/>
            <a:ext cx="10515600" cy="276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>Passphrase:  kagent-sept-22</a:t>
            </a:r>
          </a:p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/>
            </a:r>
          </a:p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>Name, your Civo key, download the .env.</a:t>
            </a:r>
          </a:p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>Your Civo key never leaves your browser.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38200" y="720000"/>
            <a:ext cx="10515600" cy="4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1100" b="1">
                <a:solidFill>
                  <a:srgbClr val="0D6068"/>
                </a:solidFill>
              </a:rPr>
              <a:t>WHAT YOU'RE BUILDING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38200" y="1240000"/>
            <a:ext cx="10515600" cy="19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3200" b="1">
                <a:solidFill>
                  <a:srgbClr val="14191A"/>
                </a:solidFill>
              </a:rPr>
              <a:t>Two clusters, one protocol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838200" y="2390000"/>
            <a:ext cx="10515600" cy="376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1600">
                <a:solidFill>
                  <a:srgbClr val="3A4446"/>
                </a:solidFill>
              </a:rPr>
              <a:t>YOURS                                    MINE</a:t>
            </a:r>
          </a:p>
          <a:p>
            <a:pPr marL="0" indent="0">
              <a:buNone/>
            </a:pPr>
            <a:r>
              <a:rPr lang="en-GB" sz="1600">
                <a:solidFill>
                  <a:srgbClr val="3A4446"/>
                </a:solidFill>
              </a:rPr>
              <a:t>  an agent that can reason        a platform you've never seen</a:t>
            </a:r>
          </a:p>
          <a:p>
            <a:pPr marL="0" indent="0">
              <a:buNone/>
            </a:pPr>
            <a:r>
              <a:rPr lang="en-GB" sz="1600">
                <a:solidFill>
                  <a:srgbClr val="3A4446"/>
                </a:solidFill>
              </a:rPr>
              <a:t>  and call tools                          seven days of its logs</a:t>
            </a:r>
          </a:p>
          <a:p>
            <a:pPr marL="0" indent="0">
              <a:buNone/>
            </a:pPr>
            <a:r>
              <a:rPr lang="en-GB" sz="1600">
                <a:solidFill>
                  <a:srgbClr val="3A4446"/>
                </a:solidFill>
              </a:rPr>
              <a:t/>
            </a:r>
          </a:p>
          <a:p>
            <a:pPr marL="0" indent="0">
              <a:buNone/>
            </a:pPr>
            <a:r>
              <a:rPr lang="en-GB" sz="1600">
                <a:solidFill>
                  <a:srgbClr val="3A4446"/>
                </a:solidFill>
              </a:rPr>
              <a:t>                     ── MCP ──▶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38200" y="720000"/>
            <a:ext cx="10515600" cy="4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1100" b="1">
                <a:solidFill>
                  <a:srgbClr val="0D6068"/>
                </a:solidFill>
              </a:rPr>
              <a:t>BACKGROUND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38200" y="1240000"/>
            <a:ext cx="10515600" cy="19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3200" b="1">
                <a:solidFill>
                  <a:srgbClr val="14191A"/>
                </a:solidFill>
              </a:rPr>
              <a:t>An agent is a Kubernetes resource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838200" y="2390000"/>
            <a:ext cx="10515600" cy="376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>ModelConfig          what it thinks with</a:t>
            </a:r>
          </a:p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/>
            </a:r>
          </a:p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>Agent                what it's for, and what it may touch</a:t>
            </a:r>
          </a:p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/>
            </a:r>
          </a:p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>RemoteMCPServer      where its tools come from</a:t>
            </a:r>
          </a:p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/>
            </a:r>
          </a:p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>kubectl get agents. Review it, diff it, roll it back.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38200" y="720000"/>
            <a:ext cx="10515600" cy="4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1100" b="1">
                <a:solidFill>
                  <a:srgbClr val="0D6068"/>
                </a:solidFill>
              </a:rPr>
              <a:t>BACKGROUND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38200" y="1240000"/>
            <a:ext cx="10515600" cy="19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3200" b="1">
                <a:solidFill>
                  <a:srgbClr val="14191A"/>
                </a:solidFill>
              </a:rPr>
              <a:t>Why in the cluster at all?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838200" y="2390000"/>
            <a:ext cx="10515600" cy="376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>It already has the credentials, the network reach, the RBAC.</a:t>
            </a:r>
          </a:p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/>
            </a:r>
          </a:p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>When it acts, it acts as an identity you granted —</a:t>
            </a:r>
          </a:p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>not a token someone pasted into a laptop.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38200" y="720000"/>
            <a:ext cx="10515600" cy="4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1100" b="1">
                <a:solidFill>
                  <a:srgbClr val="0D6068"/>
                </a:solidFill>
              </a:rPr>
              <a:t>BACKGROUND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38200" y="1240000"/>
            <a:ext cx="10515600" cy="19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3200" b="1">
                <a:solidFill>
                  <a:srgbClr val="14191A"/>
                </a:solidFill>
              </a:rPr>
              <a:t>MCP: tools an agent can find for itself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838200" y="2390000"/>
            <a:ext cx="10515600" cy="376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>Your agent has no idea what Loki is.</a:t>
            </a:r>
          </a:p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/>
            </a:r>
          </a:p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>It connects, asks what tools exist, and decides which to use.</a:t>
            </a:r>
          </a:p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/>
            </a:r>
          </a:p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>A driver, not an integration. You don't rebuild the agent</a:t>
            </a:r>
          </a:p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>to give it new senses.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38200" y="720000"/>
            <a:ext cx="10515600" cy="4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1100" b="1">
                <a:solidFill>
                  <a:srgbClr val="0D6068"/>
                </a:solidFill>
              </a:rPr>
              <a:t>OVER TO YOU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38200" y="1240000"/>
            <a:ext cx="10515600" cy="19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3200" b="1">
                <a:solidFill>
                  <a:srgbClr val="14191A"/>
                </a:solidFill>
              </a:rPr>
              <a:t>Eight services. Seven days.</a:t>
            </a:r>
          </a:p>
          <a:p>
            <a:pPr marL="0" indent="0">
              <a:buNone/>
            </a:pPr>
            <a:r>
              <a:rPr lang="en-GB" sz="3200" b="1">
                <a:solidFill>
                  <a:srgbClr val="14191A"/>
                </a:solidFill>
              </a:rPr>
              <a:t>Nobody has told it what's wrong.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838200" y="2390000"/>
            <a:ext cx="10515600" cy="376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1700">
                <a:solidFill>
                  <a:srgbClr val="3A4446"/>
                </a:solidFill>
              </a:rPr>
              <a:t>web · api-gateway · checkout · orders-db-proxy</a:t>
            </a:r>
          </a:p>
          <a:p>
            <a:pPr marL="0" indent="0">
              <a:buNone/>
            </a:pPr>
            <a:r>
              <a:rPr lang="en-GB" sz="1700">
                <a:solidFill>
                  <a:srgbClr val="3A4446"/>
                </a:solidFill>
              </a:rPr>
              <a:t>search · image-resizer · notifications · auth</a:t>
            </a:r>
          </a:p>
          <a:p>
            <a:pPr marL="0" indent="0">
              <a:buNone/>
            </a:pPr>
            <a:r>
              <a:rPr lang="en-GB" sz="1700">
                <a:solidFill>
                  <a:srgbClr val="3A4446"/>
                </a:solidFill>
              </a:rPr>
              <a:t/>
            </a:r>
          </a:p>
          <a:p>
            <a:pPr marL="0" indent="0">
              <a:buNone/>
            </a:pPr>
            <a:r>
              <a:rPr lang="en-GB" sz="1700">
                <a:solidFill>
                  <a:srgbClr val="3A4446"/>
                </a:solidFill>
              </a:rPr>
              <a:t>Some of this is healthy. Some of it isn't.</a:t>
            </a:r>
          </a:p>
          <a:p>
            <a:pPr marL="0" indent="0">
              <a:buNone/>
            </a:pPr>
            <a:r>
              <a:rPr lang="en-GB" sz="1700">
                <a:solidFill>
                  <a:srgbClr val="3A4446"/>
                </a:solidFill>
              </a:rPr>
              <a:t/>
            </a:r>
          </a:p>
          <a:p>
            <a:pPr marL="0" indent="0">
              <a:buNone/>
            </a:pPr>
            <a:r>
              <a:rPr lang="en-GB" sz="1700">
                <a:solidFill>
                  <a:srgbClr val="3A4446"/>
                </a:solidFill>
              </a:rPr>
              <a:t>Go and find out which.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38200" y="720000"/>
            <a:ext cx="10515600" cy="4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1100" b="1">
                <a:solidFill>
                  <a:srgbClr val="0D6068"/>
                </a:solidFill>
              </a:rPr>
              <a:t>CLOSING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38200" y="1240000"/>
            <a:ext cx="10515600" cy="19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3200" b="1">
                <a:solidFill>
                  <a:srgbClr val="14191A"/>
                </a:solidFill>
              </a:rPr>
              <a:t>Now go and find it yourself</a:t>
            </a:r>
          </a:p>
        </p:txBody>
      </p:sp>
      <p:sp>
        <p:nvSpPr>
          <p:cNvPr id="4" name="cmd"/>
          <p:cNvSpPr txBox="1"/>
          <p:nvPr/>
        </p:nvSpPr>
        <p:spPr>
          <a:xfrm>
            <a:off x="838200" y="2390000"/>
            <a:ext cx="10515600" cy="8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2800" b="1">
                <a:solidFill>
                  <a:srgbClr val="0D6068"/>
                </a:solidFill>
                <a:latin typeface="IBM Plex Mono"/>
              </a:rPr>
              <a:t>logs-74-220-17-251.sslip.io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838200" y="3390000"/>
            <a:ext cx="10515600" cy="276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>Same Loki. Same seven days. No agent.</a:t>
            </a:r>
          </a:p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/>
            </a:r>
          </a:p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>Anonymous, read-only — open it and try.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38200" y="720000"/>
            <a:ext cx="10515600" cy="4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1100" b="1">
                <a:solidFill>
                  <a:srgbClr val="0D6068"/>
                </a:solidFill>
              </a:rPr>
              <a:t>CLOSING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38200" y="1240000"/>
            <a:ext cx="10515600" cy="19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3200" b="1">
                <a:solidFill>
                  <a:srgbClr val="14191A"/>
                </a:solidFill>
              </a:rPr>
              <a:t>So what did you find?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38200" y="720000"/>
            <a:ext cx="10515600" cy="4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1100" b="1">
                <a:solidFill>
                  <a:srgbClr val="0D6068"/>
                </a:solidFill>
              </a:rPr>
              <a:t>CLOSING · LEARNING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38200" y="1240000"/>
            <a:ext cx="10515600" cy="19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3200" b="1">
                <a:solidFill>
                  <a:srgbClr val="14191A"/>
                </a:solidFill>
              </a:rPr>
              <a:t>The question did the work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838200" y="2390000"/>
            <a:ext cx="10515600" cy="376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1600">
                <a:solidFill>
                  <a:srgbClr val="3A4446"/>
                </a:solidFill>
              </a:rPr>
              <a:t>“Is anything about to break?”</a:t>
            </a:r>
          </a:p>
          <a:p>
            <a:pPr marL="0" indent="0">
              <a:buNone/>
            </a:pPr>
            <a:r>
              <a:rPr lang="en-GB" sz="1600">
                <a:solidFill>
                  <a:srgbClr val="3A4446"/>
                </a:solidFill>
              </a:rPr>
              <a:t>     → the crash loop. Everything else looks fine.</a:t>
            </a:r>
          </a:p>
          <a:p>
            <a:pPr marL="0" indent="0">
              <a:buNone/>
            </a:pPr>
            <a:r>
              <a:rPr lang="en-GB" sz="1600">
                <a:solidFill>
                  <a:srgbClr val="3A4446"/>
                </a:solidFill>
              </a:rPr>
              <a:t/>
            </a:r>
          </a:p>
          <a:p>
            <a:pPr marL="0" indent="0">
              <a:buNone/>
            </a:pPr>
            <a:r>
              <a:rPr lang="en-GB" sz="1600">
                <a:solidFill>
                  <a:srgbClr val="3A4446"/>
                </a:solidFill>
              </a:rPr>
              <a:t>“…but is not failing today?”</a:t>
            </a:r>
          </a:p>
          <a:p>
            <a:pPr marL="0" indent="0">
              <a:buNone/>
            </a:pPr>
            <a:r>
              <a:rPr lang="en-GB" sz="1600">
                <a:solidFill>
                  <a:srgbClr val="3A4446"/>
                </a:solidFill>
              </a:rPr>
              <a:t>     → the certificate, with nine days' notice.</a:t>
            </a:r>
          </a:p>
          <a:p>
            <a:pPr marL="0" indent="0">
              <a:buNone/>
            </a:pPr>
            <a:r>
              <a:rPr lang="en-GB" sz="1600">
                <a:solidFill>
                  <a:srgbClr val="3A4446"/>
                </a:solidFill>
              </a:rPr>
              <a:t/>
            </a:r>
          </a:p>
          <a:p>
            <a:pPr marL="0" indent="0">
              <a:buNone/>
            </a:pPr>
            <a:r>
              <a:rPr lang="en-GB" sz="1600">
                <a:solidFill>
                  <a:srgbClr val="3A4446"/>
                </a:solidFill>
              </a:rPr>
              <a:t>Same data. Same model.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38200" y="720000"/>
            <a:ext cx="10515600" cy="4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1100" b="1">
                <a:solidFill>
                  <a:srgbClr val="0D6068"/>
                </a:solidFill>
              </a:rPr>
              <a:t>CLOSING · LEARNING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38200" y="1240000"/>
            <a:ext cx="10515600" cy="19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3200" b="1">
                <a:solidFill>
                  <a:srgbClr val="14191A"/>
                </a:solidFill>
              </a:rPr>
              <a:t>Check its work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838200" y="2390000"/>
            <a:ext cx="10515600" cy="376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>In testing it once blamed the wrong service for a deploy —</a:t>
            </a:r>
          </a:p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>right finding, wrong attribution.</a:t>
            </a:r>
          </a:p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/>
            </a:r>
          </a:p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>It's a very fast colleague who has read everything</a:t>
            </a:r>
          </a:p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>and is sometimes confidently wrong.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38200" y="720000"/>
            <a:ext cx="10515600" cy="4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1100" b="1">
                <a:solidFill>
                  <a:srgbClr val="0D6068"/>
                </a:solidFill>
              </a:rPr>
              <a:t>CLOSING · LEARNING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38200" y="1240000"/>
            <a:ext cx="10515600" cy="19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3200" b="1">
                <a:solidFill>
                  <a:srgbClr val="14191A"/>
                </a:solidFill>
              </a:rPr>
              <a:t>It's just a workload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838200" y="2390000"/>
            <a:ext cx="10515600" cy="376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>No console. No vendor. No agent platform.</a:t>
            </a:r>
          </a:p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/>
            </a:r>
          </a:p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>A Deployment, a Secret, a CronJob and a URL —</a:t>
            </a:r>
          </a:p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>reviewed, diffed and rolled back like anything else you run.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38200" y="720000"/>
            <a:ext cx="10515600" cy="4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1100" b="1">
                <a:solidFill>
                  <a:srgbClr val="0D6068"/>
                </a:solidFill>
              </a:rPr>
              <a:t>TAKE THESE WITH YOU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38200" y="1240000"/>
            <a:ext cx="10515600" cy="19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3200" b="1">
                <a:solidFill>
                  <a:srgbClr val="14191A"/>
                </a:solidFill>
              </a:rPr>
              <a:t>Prompts worth stealing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838200" y="2390000"/>
            <a:ext cx="10515600" cy="376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1500">
                <a:solidFill>
                  <a:srgbClr val="3A4446"/>
                </a:solidFill>
              </a:rPr>
              <a:t>What changed in the last 24 hours that wasn't happening last week?</a:t>
            </a:r>
          </a:p>
          <a:p>
            <a:pPr marL="0" indent="0">
              <a:buNone/>
            </a:pPr>
            <a:r>
              <a:rPr lang="en-GB" sz="1500">
                <a:solidFill>
                  <a:srgbClr val="3A4446"/>
                </a:solidFill>
              </a:rPr>
              <a:t/>
            </a:r>
          </a:p>
          <a:p>
            <a:pPr marL="0" indent="0">
              <a:buNone/>
            </a:pPr>
            <a:r>
              <a:rPr lang="en-GB" sz="1500">
                <a:solidFill>
                  <a:srgbClr val="3A4446"/>
                </a:solidFill>
              </a:rPr>
              <a:t>Anything failing on a schedule? Group by hour of day, not by count.</a:t>
            </a:r>
          </a:p>
          <a:p>
            <a:pPr marL="0" indent="0">
              <a:buNone/>
            </a:pPr>
            <a:r>
              <a:rPr lang="en-GB" sz="1500">
                <a:solidFill>
                  <a:srgbClr val="3A4446"/>
                </a:solidFill>
              </a:rPr>
              <a:t/>
            </a:r>
          </a:p>
          <a:p>
            <a:pPr marL="0" indent="0">
              <a:buNone/>
            </a:pPr>
            <a:r>
              <a:rPr lang="en-GB" sz="1500">
                <a:solidFill>
                  <a:srgbClr val="3A4446"/>
                </a:solidFill>
              </a:rPr>
              <a:t>Group today's errors by likely root cause, not by message.</a:t>
            </a:r>
          </a:p>
          <a:p>
            <a:pPr marL="0" indent="0">
              <a:buNone/>
            </a:pPr>
            <a:r>
              <a:rPr lang="en-GB" sz="1500">
                <a:solidFill>
                  <a:srgbClr val="3A4446"/>
                </a:solidFill>
              </a:rPr>
              <a:t/>
            </a:r>
          </a:p>
          <a:p>
            <a:pPr marL="0" indent="0">
              <a:buNone/>
            </a:pPr>
            <a:r>
              <a:rPr lang="en-GB" sz="1500">
                <a:solidFill>
                  <a:srgbClr val="3A4446"/>
                </a:solidFill>
              </a:rPr>
              <a:t>If I were paged right now, what would you check first — and why</a:t>
            </a:r>
          </a:p>
          <a:p>
            <a:pPr marL="0" indent="0">
              <a:buNone/>
            </a:pPr>
            <a:r>
              <a:rPr lang="en-GB" sz="1500">
                <a:solidFill>
                  <a:srgbClr val="3A4446"/>
                </a:solidFill>
              </a:rPr>
              <a:t>that rather than the others?</a:t>
            </a:r>
          </a:p>
          <a:p>
            <a:pPr marL="0" indent="0">
              <a:buNone/>
            </a:pPr>
            <a:r>
              <a:rPr lang="en-GB" sz="1500">
                <a:solidFill>
                  <a:srgbClr val="3A4446"/>
                </a:solidFill>
              </a:rPr>
              <a:t/>
            </a:r>
          </a:p>
          <a:p>
            <a:pPr marL="0" indent="0">
              <a:buNone/>
            </a:pPr>
            <a:r>
              <a:rPr lang="en-GB" sz="1500">
                <a:solidFill>
                  <a:srgbClr val="3A4446"/>
                </a:solidFill>
              </a:rPr>
              <a:t>Is anything degrading slowly enough that nobody has noticed?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38200" y="720000"/>
            <a:ext cx="10515600" cy="4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1100" b="1">
                <a:solidFill>
                  <a:srgbClr val="0D6068"/>
                </a:solidFill>
              </a:rPr>
              <a:t>TAKE THESE WITH YOU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38200" y="1240000"/>
            <a:ext cx="10515600" cy="19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3200" b="1">
                <a:solidFill>
                  <a:srgbClr val="14191A"/>
                </a:solidFill>
              </a:rPr>
              <a:t>Where to take it next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838200" y="2390000"/>
            <a:ext cx="10515600" cy="376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1500">
                <a:solidFill>
                  <a:srgbClr val="3A4446"/>
                </a:solidFill>
              </a:rPr>
              <a:t>Point log-detective at your own logs — one field on the RemoteMCPServer</a:t>
            </a:r>
          </a:p>
          <a:p>
            <a:pPr marL="0" indent="0">
              <a:buNone/>
            </a:pPr>
            <a:r>
              <a:rPr lang="en-GB" sz="1500">
                <a:solidFill>
                  <a:srgbClr val="3A4446"/>
                </a:solidFill>
              </a:rPr>
              <a:t/>
            </a:r>
          </a:p>
          <a:p>
            <a:pPr marL="0" indent="0">
              <a:buNone/>
            </a:pPr>
            <a:r>
              <a:rPr lang="en-GB" sz="1500">
                <a:solidFill>
                  <a:srgbClr val="3A4446"/>
                </a:solidFill>
              </a:rPr>
              <a:t>Rewrite the system prompt for your services — most of the quality is there</a:t>
            </a:r>
          </a:p>
          <a:p>
            <a:pPr marL="0" indent="0">
              <a:buNone/>
            </a:pPr>
            <a:r>
              <a:rPr lang="en-GB" sz="1500">
                <a:solidFill>
                  <a:srgbClr val="3A4446"/>
                </a:solidFill>
              </a:rPr>
              <a:t/>
            </a:r>
          </a:p>
          <a:p>
            <a:pPr marL="0" indent="0">
              <a:buNone/>
            </a:pPr>
            <a:r>
              <a:rPr lang="en-GB" sz="1500">
                <a:solidFill>
                  <a:srgbClr val="3A4446"/>
                </a:solidFill>
              </a:rPr>
              <a:t>Move it to a Monday digest — a daily nobody reads is worse than nothing</a:t>
            </a:r>
          </a:p>
          <a:p>
            <a:pPr marL="0" indent="0">
              <a:buNone/>
            </a:pPr>
            <a:r>
              <a:rPr lang="en-GB" sz="1500">
                <a:solidFill>
                  <a:srgbClr val="3A4446"/>
                </a:solidFill>
              </a:rPr>
              <a:t/>
            </a:r>
          </a:p>
          <a:p>
            <a:pPr marL="0" indent="0">
              <a:buNone/>
            </a:pPr>
            <a:r>
              <a:rPr lang="en-GB" sz="1500">
                <a:solidFill>
                  <a:srgbClr val="3A4446"/>
                </a:solidFill>
              </a:rPr>
              <a:t>Add a second MCP server: Prometheus, GitHub, PagerDuty</a:t>
            </a:r>
          </a:p>
          <a:p>
            <a:pPr marL="0" indent="0">
              <a:buNone/>
            </a:pPr>
            <a:r>
              <a:rPr lang="en-GB" sz="1500">
                <a:solidFill>
                  <a:srgbClr val="3A4446"/>
                </a:solidFill>
              </a:rPr>
              <a:t/>
            </a:r>
          </a:p>
          <a:p>
            <a:pPr marL="0" indent="0">
              <a:buNone/>
            </a:pPr>
            <a:r>
              <a:rPr lang="en-GB" sz="1500">
                <a:solidFill>
                  <a:srgbClr val="3A4446"/>
                </a:solidFill>
              </a:rPr>
              <a:t>Let it act, behind approval — start with something reversible</a:t>
            </a:r>
          </a:p>
          <a:p>
            <a:pPr marL="0" indent="0">
              <a:buNone/>
            </a:pPr>
            <a:r>
              <a:rPr lang="en-GB" sz="1500">
                <a:solidFill>
                  <a:srgbClr val="3A4446"/>
                </a:solidFill>
              </a:rPr>
              <a:t/>
            </a:r>
          </a:p>
          <a:p>
            <a:pPr marL="0" indent="0">
              <a:buNone/>
            </a:pPr>
            <a:r>
              <a:rPr lang="en-GB" sz="1500">
                <a:solidFill>
                  <a:srgbClr val="3A4446"/>
                </a:solidFill>
              </a:rPr>
              <a:t>Split it in two — you already have two; a triage agent routes to them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38200" y="720000"/>
            <a:ext cx="10515600" cy="4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1100" b="1">
                <a:solidFill>
                  <a:srgbClr val="0D6068"/>
                </a:solidFill>
              </a:rPr>
              <a:t>BEFORE YOU GO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38200" y="1240000"/>
            <a:ext cx="10515600" cy="19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3200" b="1">
                <a:solidFill>
                  <a:srgbClr val="14191A"/>
                </a:solidFill>
              </a:rPr>
              <a:t>You're keeping this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838200" y="2390000"/>
            <a:ext cx="10515600" cy="376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>It bills to YOUR Civo account.</a:t>
            </a:r>
          </a:p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/>
            </a:r>
          </a:p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>cluster-scout keeps working forever. log-detective loses its log</a:t>
            </a:r>
          </a:p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>tools when my hub goes on 22 October — repointing it at logs of</a:t>
            </a:r>
          </a:p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>your own is one field.</a:t>
            </a:r>
          </a:p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/>
            </a:r>
          </a:p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>Your relax.ai key is yours to keep.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38200" y="720000"/>
            <a:ext cx="10515600" cy="4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1100" b="1">
                <a:solidFill>
                  <a:srgbClr val="0D6068"/>
                </a:solidFill>
              </a:rPr>
              <a:t>THANK YOU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38200" y="1240000"/>
            <a:ext cx="10515600" cy="19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3200" b="1">
                <a:solidFill>
                  <a:srgbClr val="14191A"/>
                </a:solidFill>
              </a:rPr>
              <a:t>Everything is in the repo</a:t>
            </a:r>
          </a:p>
        </p:txBody>
      </p:sp>
      <p:sp>
        <p:nvSpPr>
          <p:cNvPr id="4" name="cmd"/>
          <p:cNvSpPr txBox="1"/>
          <p:nvPr/>
        </p:nvSpPr>
        <p:spPr>
          <a:xfrm>
            <a:off x="838200" y="2390000"/>
            <a:ext cx="10515600" cy="8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2800" b="1">
                <a:solidFill>
                  <a:srgbClr val="0D6068"/>
                </a:solidFill>
                <a:latin typeface="IBM Plex Mono"/>
              </a:rPr>
              <a:t>github.com/dmajrekar/kagent-civo-workshop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838200" y="3390000"/>
            <a:ext cx="10515600" cy="276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>Those prompts and next steps:  docs/AFTER.md</a:t>
            </a:r>
          </a:p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/>
            </a:r>
          </a:p>
          <a:p>
            <a:pPr marL="0" indent="0">
              <a:buNone/>
            </a:pPr>
            <a:r>
              <a:rPr lang="en-GB" sz="1800">
                <a:solidFill>
                  <a:srgbClr val="3A4446"/>
                </a:solidFill>
              </a:rPr>
              <a:t>kagent.dev  ·  civo.com  ·  relax.ai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shop">
  <a:themeElements>
    <a:clrScheme name="Workshop">
      <a:dk1>
        <a:sysClr val="windowText" lastClr="000000"/>
      </a:dk1>
      <a:lt1>
        <a:sysClr val="window" lastClr="FFFFFF"/>
      </a:lt1>
      <a:dk2>
        <a:srgbClr val="14191A"/>
      </a:dk2>
      <a:lt2>
        <a:srgbClr val="F5F7F7"/>
      </a:lt2>
      <a:accent1>
        <a:srgbClr val="0D6068"/>
      </a:accent1>
      <a:accent2>
        <a:srgbClr val="A86414"/>
      </a:accent2>
      <a:accent3>
        <a:srgbClr val="2F6B45"/>
      </a:accent3>
      <a:accent4>
        <a:srgbClr val="B4472F"/>
      </a:accent4>
      <a:accent5>
        <a:srgbClr val="4A5456"/>
      </a:accent5>
      <a:accent6>
        <a:srgbClr val="6E7A7C"/>
      </a:accent6>
      <a:hlink>
        <a:srgbClr val="0D6068"/>
      </a:hlink>
      <a:folHlink>
        <a:srgbClr val="6E7A7C"/>
      </a:folHlink>
    </a:clrScheme>
    <a:fontScheme name="Workshop">
      <a:majorFont>
        <a:latin typeface="Archivo"/>
        <a:ea typeface=""/>
        <a:cs typeface=""/>
      </a:majorFont>
      <a:minorFont>
        <a:latin typeface="IBM Plex Sans"/>
        <a:ea typeface=""/>
        <a:cs typeface=""/>
      </a:minorFont>
    </a:fontScheme>
    <a:fmtScheme name="Workshop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